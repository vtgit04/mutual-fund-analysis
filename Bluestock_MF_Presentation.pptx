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A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Bluestock Fintech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</a:rPr>
              <a:t>Mutual Fund Analysis — 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EF2FF"/>
                </a:solidFill>
              </a:rPr>
              <a:t>Data Engineering Internship | June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062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EEF2FF"/>
                </a:solidFill>
              </a:rPr>
              <a:t>Vijay Tiwari | PCE23AD061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Problem &amp;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E1E1E"/>
                </a:solidFill>
              </a:rPr>
              <a:t>• Indian MF industry manages ₹50+ Lakh Crore AUM across 1,900+ schemes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574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E1E1E"/>
                </a:solidFill>
              </a:rPr>
              <a:t>• Lack of unified analytics platform for fund performance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E1E1E"/>
                </a:solidFill>
              </a:rPr>
              <a:t>• Investors struggle to identify best funds matching their risk appetite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4290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E1E1E"/>
                </a:solidFill>
              </a:rPr>
              <a:t>• Objective: Build end-to-end MF analytics system for Bluestock Fintech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114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E1E1E"/>
                </a:solidFill>
              </a:rPr>
              <a:t>• Deliverable: Data pipeline + EDA + Performance Analytics + Dashboard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Data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E1E1E"/>
                </a:solidFill>
              </a:rPr>
              <a:t>• 10 datasets covering NAV history, transactions, AUM, SIP inflows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574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E1E1E"/>
                </a:solidFill>
              </a:rPr>
              <a:t>• 46,000 NAV records across 40 schemes (Jan 2022 – Dec 2025)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E1E1E"/>
                </a:solidFill>
              </a:rPr>
              <a:t>• 32,778 investor transactions (SIP, Lumpsum, Redemption)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4290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E1E1E"/>
                </a:solidFill>
              </a:rPr>
              <a:t>• Live NAV data fetched from mfapi.in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114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E1E1E"/>
                </a:solidFill>
              </a:rPr>
              <a:t>• Benchmark data: Nifty 50 and Nifty 100 index values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Project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E1E1E"/>
                </a:solidFill>
              </a:rPr>
              <a:t>• Day 1: Data Ingestion — CSV loading + live API fetch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574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E1E1E"/>
                </a:solidFill>
              </a:rPr>
              <a:t>• Day 2: Data Cleaning + SQLite Star Schema Database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E1E1E"/>
                </a:solidFill>
              </a:rPr>
              <a:t>• Day 3: Exploratory Data Analysis — 16 charts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4290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E1E1E"/>
                </a:solidFill>
              </a:rPr>
              <a:t>• Day 4: Performance Analytics — Sharpe, Sortino, Alpha/Beta,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114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E1E1E"/>
                </a:solidFill>
              </a:rPr>
              <a:t>• Day 5: Power BI Dashboard — 4 interactive pages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00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E1E1E"/>
                </a:solidFill>
              </a:rPr>
              <a:t>• Day 6: Advanced Analytics — VaR, Rolling Sharpe, HHI, Recommender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4864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E1E1E"/>
                </a:solidFill>
              </a:rPr>
              <a:t>• Day 7: Final Report + Presentation + GitHub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EDA Highlights — Market Trends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E1E1E"/>
                </a:solidFill>
              </a:rPr>
              <a:t>• NAV bull run clearly visible in 2023 across all equity schemes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574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E1E1E"/>
                </a:solidFill>
              </a:rPr>
              <a:t>• 2024 market correction observed between June–October 2024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E1E1E"/>
                </a:solidFill>
              </a:rPr>
              <a:t>• SBI Mutual Fund dominates AUM with ₹12.5 Lakh Crore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4290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E1E1E"/>
                </a:solidFill>
              </a:rPr>
              <a:t>• SIP inflows hit all-time high of ₹31,002 Cr in December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114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E1E1E"/>
                </a:solidFill>
              </a:rPr>
              <a:t>• Mid Cap and Small Cap categories attracted highest net inflows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EDA Highlights — Investor Behaviour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E1E1E"/>
                </a:solidFill>
              </a:rPr>
              <a:t>• 36–55 age group is the largest investor segment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574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E1E1E"/>
                </a:solidFill>
              </a:rPr>
              <a:t>• T30 cities contribute majority of SIP investments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E1E1E"/>
                </a:solidFill>
              </a:rPr>
              <a:t>• B30 cities showing growing participation — outreach is working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4290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E1E1E"/>
                </a:solidFill>
              </a:rPr>
              <a:t>• Industry folios doubled: 13.26 Cr (2022) → 26.12 Cr (2025)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114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E1E1E"/>
                </a:solidFill>
              </a:rPr>
              <a:t>• Banking &amp; Financials is the most heavily weighted sector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Performance Metrics — Top Funds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E1E1E"/>
                </a:solidFill>
              </a:rPr>
              <a:t>• Mirae Asset Large Cap scored perfect 100 on composite scorecard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574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E1E1E"/>
                </a:solidFill>
              </a:rPr>
              <a:t>• Sharpe Ratio leader: Mirae Asset Large Cap (1.45)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E1E1E"/>
                </a:solidFill>
              </a:rPr>
              <a:t>• Sortino Ratio leader: Mirae Asset Large Cap (2.37)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4290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E1E1E"/>
                </a:solidFill>
              </a:rPr>
              <a:t>• Highest Alpha: DSP Small Cap Fund (0.30 annualised)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114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E1E1E"/>
                </a:solidFill>
              </a:rPr>
              <a:t>• Lowest Max Drawdown: ICICI Pru Liquid Fund (-0.01%)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Performance Metrics — Risk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E1E1E"/>
                </a:solidFill>
              </a:rPr>
              <a:t>• VaR (95%): Small cap funds carry highest daily risk at -2.7%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574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E1E1E"/>
                </a:solidFill>
              </a:rPr>
              <a:t>• Liquid funds safest with near-zero VaR (-0.02% to -0.03%)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E1E1E"/>
                </a:solidFill>
              </a:rPr>
              <a:t>• 97% of SIP investors flagged as at-risk (gaps &gt; 35 days)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4290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E1E1E"/>
                </a:solidFill>
              </a:rPr>
              <a:t>• Axis Bluechip most sector-concentrated (HHI = 0.297)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114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E1E1E"/>
                </a:solidFill>
              </a:rPr>
              <a:t>• Kotak Flexicap best diversified equity fund (HHI = 0.136)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Dashboard — Industry Overview &amp; Fund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E1E1E"/>
                </a:solidFill>
              </a:rPr>
              <a:t>• Page 1: KPI cards — AUM, SIP Inflows, Folios, Schemes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574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E1E1E"/>
                </a:solidFill>
              </a:rPr>
              <a:t>• Page 1: Industry AUM trend line + AUM by fund house bar chart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E1E1E"/>
                </a:solidFill>
              </a:rPr>
              <a:t>• Page 2: Return vs Risk scatter plot (bubble size = AUM)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4290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E1E1E"/>
                </a:solidFill>
              </a:rPr>
              <a:t>• Page 2: Sortable fund scorecard table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114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E1E1E"/>
                </a:solidFill>
              </a:rPr>
              <a:t>• Page 2: Slicers for fund house, category, and plan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Dashboard — Investor Analytics &amp; SIP Trends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E1E1E"/>
                </a:solidFill>
              </a:rPr>
              <a:t>• Page 3: Transaction amount by state horizontal bar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574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E1E1E"/>
                </a:solidFill>
              </a:rPr>
              <a:t>• Page 3: SIP/Lumpsum/Redemption donut chart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E1E1E"/>
                </a:solidFill>
              </a:rPr>
              <a:t>• Page 3: Age group vs avg SIP amount bar chart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4290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E1E1E"/>
                </a:solidFill>
              </a:rPr>
              <a:t>• Page 4: Dual-axis SIP inflow (bar) + Nifty 50 (line)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114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E1E1E"/>
                </a:solidFill>
              </a:rPr>
              <a:t>• Page 4: Category inflow heatmap matrix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Key Findings &amp;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E1E1E"/>
                </a:solidFill>
              </a:rPr>
              <a:t>• Mirae Asset Large Cap is the best risk-adjusted fund overall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574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E1E1E"/>
                </a:solidFill>
              </a:rPr>
              <a:t>• 97% SIP at-risk rate — fund houses need retention strategies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E1E1E"/>
                </a:solidFill>
              </a:rPr>
              <a:t>• Small cap investors must be warned of -2.7% daily VaR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4290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E1E1E"/>
                </a:solidFill>
              </a:rPr>
              <a:t>• B30 city outreach is yielding results — continue expansion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114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E1E1E"/>
                </a:solidFill>
              </a:rPr>
              <a:t>• Industry folio doubling signals mass retail adoption of MFs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A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EEF2FF"/>
                </a:solidFill>
              </a:rPr>
              <a:t>Vijay Tiwari | Data Engineering Intern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EEF2FF"/>
                </a:solidFill>
              </a:rPr>
              <a:t>github.com/vtgit04/mutual-fund-analysis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EEF2FF"/>
                </a:solidFill>
              </a:rPr>
              <a:t>Bluestock Fintech | June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